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1383625" cx="1511935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D95fH7A37SLJV9E2cfSne1SLt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133951" y="3499590"/>
            <a:ext cx="12851448" cy="74446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Play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89919" y="11231355"/>
            <a:ext cx="11339513" cy="516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/>
            </a:lvl1pPr>
            <a:lvl2pPr lvl="1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2pPr>
            <a:lvl3pPr lvl="2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/>
            </a:lvl3pPr>
            <a:lvl4pPr lvl="3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4pPr>
            <a:lvl5pPr lvl="4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5pPr>
            <a:lvl6pPr lvl="5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6pPr>
            <a:lvl7pPr lvl="6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7pPr>
            <a:lvl8pPr lvl="7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8pPr>
            <a:lvl9pPr lvl="8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031582" y="5331063"/>
            <a:ext cx="13040439" cy="889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Play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031582" y="14310205"/>
            <a:ext cx="13040439" cy="4677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757575"/>
              </a:buClr>
              <a:buSzPts val="3968"/>
              <a:buNone/>
              <a:defRPr sz="3968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3307"/>
              <a:buNone/>
              <a:defRPr sz="3307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976"/>
              <a:buNone/>
              <a:defRPr sz="2976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039455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7654171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041425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041426" y="5241960"/>
            <a:ext cx="6396193" cy="25690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b="1" sz="3968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b="1" sz="3307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b="1" sz="2976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041426" y="7810963"/>
            <a:ext cx="6396193" cy="1148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7654172" y="5241960"/>
            <a:ext cx="6427693" cy="25690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b="1" sz="3968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b="1" sz="3307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b="1" sz="2976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7654172" y="7810963"/>
            <a:ext cx="6427693" cy="1148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Play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4579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1"/>
              <a:buChar char="•"/>
              <a:defRPr sz="5291"/>
            </a:lvl1pPr>
            <a:lvl2pPr indent="-522605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4630"/>
              <a:buChar char="•"/>
              <a:defRPr sz="4630"/>
            </a:lvl2pPr>
            <a:lvl3pPr indent="-480568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3pPr>
            <a:lvl4pPr indent="-438595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4pPr>
            <a:lvl5pPr indent="-438595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5pPr>
            <a:lvl6pPr indent="-438595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6pPr>
            <a:lvl7pPr indent="-438595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7pPr>
            <a:lvl8pPr indent="-438595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8pPr>
            <a:lvl9pPr indent="-438595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Play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775818" y="5956038"/>
            <a:ext cx="13567714" cy="13040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3389024" y="8569242"/>
            <a:ext cx="18121634" cy="326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3225692" y="5403628"/>
            <a:ext cx="18121634" cy="959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75"/>
              <a:buFont typeface="Play"/>
              <a:buNone/>
              <a:defRPr b="0" i="0" sz="72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22605" lvl="0" marL="457200" marR="0" rtl="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4630"/>
              <a:buFont typeface="Arial"/>
              <a:buChar char="•"/>
              <a:defRPr b="0" i="0" sz="46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80568" lvl="1" marL="9144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Font typeface="Arial"/>
              <a:buChar char="•"/>
              <a:defRPr b="0" i="0" sz="39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595" lvl="2" marL="13716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Font typeface="Arial"/>
              <a:buChar char="•"/>
              <a:defRPr b="0" i="0" sz="33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7576" lvl="3" marL="18288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7576" lvl="4" marL="22860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7576" lvl="5" marL="27432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7576" lvl="6" marL="32004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7576" lvl="7" marL="36576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7576" lvl="8" marL="41148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11" Type="http://schemas.openxmlformats.org/officeDocument/2006/relationships/image" Target="../media/image7.jpg"/><Relationship Id="rId10" Type="http://schemas.openxmlformats.org/officeDocument/2006/relationships/image" Target="../media/image2.png"/><Relationship Id="rId9" Type="http://schemas.openxmlformats.org/officeDocument/2006/relationships/image" Target="../media/image9.jp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4.jpg"/><Relationship Id="rId8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4000">
              <a:schemeClr val="lt1"/>
            </a:gs>
            <a:gs pos="99000">
              <a:srgbClr val="59C2E3">
                <a:alpha val="25098"/>
              </a:srgbClr>
            </a:gs>
            <a:gs pos="100000">
              <a:srgbClr val="59C2E3">
                <a:alpha val="25098"/>
              </a:srgbClr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25175" y="3410985"/>
            <a:ext cx="13344300" cy="1646936"/>
            <a:chOff x="225175" y="3857030"/>
            <a:chExt cx="13344300" cy="1646936"/>
          </a:xfrm>
        </p:grpSpPr>
        <p:sp>
          <p:nvSpPr>
            <p:cNvPr id="85" name="Google Shape;85;p1"/>
            <p:cNvSpPr/>
            <p:nvPr/>
          </p:nvSpPr>
          <p:spPr>
            <a:xfrm>
              <a:off x="225175" y="4141066"/>
              <a:ext cx="13344300" cy="1362900"/>
            </a:xfrm>
            <a:prstGeom prst="roundRect">
              <a:avLst>
                <a:gd fmla="val 9702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La obesidad es una enfermedad multifactorial influida por factores ambientales, nutricionales y genéticos. </a:t>
              </a:r>
              <a:r>
                <a:rPr lang="en-US" sz="1800">
                  <a:solidFill>
                    <a:schemeClr val="dk1"/>
                  </a:solidFill>
                </a:rPr>
                <a:t>En este estudio se analizaron 59 individuos de la población Springfield; se evaluaron</a:t>
              </a:r>
              <a:r>
                <a:rPr lang="en-US" sz="1800">
                  <a:solidFill>
                    <a:schemeClr val="dk1"/>
                  </a:solidFill>
                </a:rPr>
                <a:t> 97 variables sociodemográficas, antropométricas, clínicas, bioquímicas y la expresión génica de 37 genes. El </a:t>
              </a:r>
              <a:r>
                <a:rPr b="1" lang="en-US" sz="1800">
                  <a:solidFill>
                    <a:srgbClr val="4196C9"/>
                  </a:solidFill>
                </a:rPr>
                <a:t>objetivo</a:t>
              </a:r>
              <a:r>
                <a:rPr lang="en-US" sz="1800">
                  <a:solidFill>
                    <a:schemeClr val="dk1"/>
                  </a:solidFill>
                </a:rPr>
                <a:t> fue identificar patrones de expresión génica asociados a la obesidad mediante un análisis multivariante para desarrollar un modelo predictivo de obesidad.</a:t>
              </a:r>
              <a:endParaRPr b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18258" y="3857030"/>
              <a:ext cx="5838000" cy="63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INTRODUCCIÓN</a:t>
              </a:r>
              <a:endPara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207600" y="5169142"/>
            <a:ext cx="14669100" cy="2058608"/>
            <a:chOff x="207600" y="6110487"/>
            <a:chExt cx="14669100" cy="2058608"/>
          </a:xfrm>
        </p:grpSpPr>
        <p:sp>
          <p:nvSpPr>
            <p:cNvPr id="88" name="Google Shape;88;p1"/>
            <p:cNvSpPr/>
            <p:nvPr/>
          </p:nvSpPr>
          <p:spPr>
            <a:xfrm>
              <a:off x="207600" y="6393395"/>
              <a:ext cx="14669100" cy="1775700"/>
            </a:xfrm>
            <a:prstGeom prst="roundRect">
              <a:avLst>
                <a:gd fmla="val 9702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Se evaluó la calidad de la base de datos, identificándose 5 valores perdidos (8,47% de las variables), ninguno en expresión génica. Tras la depuración, se evaluó la normalidad de las variables continuas mediante </a:t>
              </a:r>
              <a:r>
                <a:rPr b="1" lang="en-US" sz="1800">
                  <a:solidFill>
                    <a:schemeClr val="dk1"/>
                  </a:solidFill>
                </a:rPr>
                <a:t>Shapiro-Wilk</a:t>
              </a:r>
              <a:r>
                <a:rPr lang="en-US" sz="1800">
                  <a:solidFill>
                    <a:schemeClr val="dk1"/>
                  </a:solidFill>
                </a:rPr>
                <a:t>. Los datos de expresión génica se centraron y escalaron para realizar un análisis de componentes principales (</a:t>
              </a:r>
              <a:r>
                <a:rPr b="1" lang="en-US" sz="1800">
                  <a:solidFill>
                    <a:schemeClr val="dk1"/>
                  </a:solidFill>
                </a:rPr>
                <a:t>PCA</a:t>
              </a:r>
              <a:r>
                <a:rPr lang="en-US" sz="1800">
                  <a:solidFill>
                    <a:schemeClr val="dk1"/>
                  </a:solidFill>
                </a:rPr>
                <a:t>). Posteriormente, se aplicó </a:t>
              </a:r>
              <a:r>
                <a:rPr b="1" lang="en-US" sz="1800">
                  <a:solidFill>
                    <a:schemeClr val="dk1"/>
                  </a:solidFill>
                </a:rPr>
                <a:t>K-means</a:t>
              </a:r>
              <a:r>
                <a:rPr lang="en-US" sz="1800">
                  <a:solidFill>
                    <a:schemeClr val="dk1"/>
                  </a:solidFill>
                </a:rPr>
                <a:t> para agrupar individuos y genes, y se utilizaron las cargas y scores del PCA para comparar terciles de contribución genética, analizar la relación entre IMC y expresión génica mediante </a:t>
              </a:r>
              <a:r>
                <a:rPr b="1" lang="en-US" sz="1800">
                  <a:solidFill>
                    <a:schemeClr val="dk1"/>
                  </a:solidFill>
                </a:rPr>
                <a:t>clustering</a:t>
              </a:r>
              <a:r>
                <a:rPr lang="en-US" sz="1800">
                  <a:solidFill>
                    <a:schemeClr val="dk1"/>
                  </a:solidFill>
                </a:rPr>
                <a:t> y </a:t>
              </a:r>
              <a:r>
                <a:rPr b="1" lang="en-US" sz="1800">
                  <a:solidFill>
                    <a:schemeClr val="dk1"/>
                  </a:solidFill>
                </a:rPr>
                <a:t>heatmaps</a:t>
              </a:r>
              <a:r>
                <a:rPr lang="en-US" sz="1800">
                  <a:solidFill>
                    <a:schemeClr val="dk1"/>
                  </a:solidFill>
                </a:rPr>
                <a:t> </a:t>
              </a:r>
              <a:r>
                <a:rPr b="1" lang="en-US" sz="1800">
                  <a:solidFill>
                    <a:schemeClr val="dk1"/>
                  </a:solidFill>
                </a:rPr>
                <a:t>de correlación de Spearman</a:t>
              </a:r>
              <a:r>
                <a:rPr lang="en-US" sz="1800">
                  <a:solidFill>
                    <a:schemeClr val="dk1"/>
                  </a:solidFill>
                </a:rPr>
                <a:t>, e incorporarlos a un modelo de </a:t>
              </a:r>
              <a:r>
                <a:rPr b="1" lang="en-US" sz="1800">
                  <a:solidFill>
                    <a:schemeClr val="dk1"/>
                  </a:solidFill>
                </a:rPr>
                <a:t>regresión logística</a:t>
              </a:r>
              <a:r>
                <a:rPr lang="en-US" sz="1800">
                  <a:solidFill>
                    <a:schemeClr val="dk1"/>
                  </a:solidFill>
                </a:rPr>
                <a:t> para la predicción de obesidad. Finalmente, se realizó una revisión bibliográfica de los genes identificados como relevantes. 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/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07600" y="7337409"/>
            <a:ext cx="14668990" cy="9840320"/>
            <a:chOff x="225180" y="8290675"/>
            <a:chExt cx="14668990" cy="9782603"/>
          </a:xfrm>
        </p:grpSpPr>
        <p:sp>
          <p:nvSpPr>
            <p:cNvPr id="91" name="Google Shape;91;p1"/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fmla="val 1988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RESULTADOS</a:t>
              </a:r>
              <a:endParaRPr/>
            </a:p>
          </p:txBody>
        </p:sp>
      </p:grp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767" y="-95516"/>
            <a:ext cx="2325820" cy="1400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"/>
          <p:cNvGrpSpPr/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95" name="Google Shape;9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5895"/>
              <a:ext cx="4834200" cy="32769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"/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207597" y="17303749"/>
            <a:ext cx="9261242" cy="3844686"/>
            <a:chOff x="225185" y="17303689"/>
            <a:chExt cx="9095700" cy="3844686"/>
          </a:xfrm>
        </p:grpSpPr>
        <p:sp>
          <p:nvSpPr>
            <p:cNvPr id="98" name="Google Shape;98;p1"/>
            <p:cNvSpPr/>
            <p:nvPr/>
          </p:nvSpPr>
          <p:spPr>
            <a:xfrm>
              <a:off x="225185" y="17550175"/>
              <a:ext cx="9095700" cy="3598200"/>
            </a:xfrm>
            <a:prstGeom prst="roundRect">
              <a:avLst>
                <a:gd fmla="val 6095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El análisis de la expresión de los 37 genes mediante PCA mostró que la variabilidad se distribuye en múltiples dimensiones, destacando PC1 y PC2 como principales ejes biológicos representando un 12.48 y 8.56% de la varianza respectivamente.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</a:rPr>
                <a:t>PC1</a:t>
              </a:r>
              <a:r>
                <a:rPr lang="en-US" sz="1800">
                  <a:solidFill>
                    <a:schemeClr val="dk1"/>
                  </a:solidFill>
                </a:rPr>
                <a:t> se asoció a genes de la </a:t>
              </a:r>
              <a:r>
                <a:rPr b="1" lang="en-US" sz="1800">
                  <a:solidFill>
                    <a:schemeClr val="dk1"/>
                  </a:solidFill>
                </a:rPr>
                <a:t>regulación neuroendocrina del apetito</a:t>
              </a:r>
              <a:r>
                <a:rPr lang="en-US" sz="1800">
                  <a:solidFill>
                    <a:schemeClr val="dk1"/>
                  </a:solidFill>
                </a:rPr>
                <a:t> (</a:t>
              </a:r>
              <a:r>
                <a:rPr i="1" lang="en-US" sz="1800">
                  <a:solidFill>
                    <a:schemeClr val="dk1"/>
                  </a:solidFill>
                </a:rPr>
                <a:t>POMC, LEPR, ADCY3</a:t>
              </a:r>
              <a:r>
                <a:rPr lang="en-US" sz="1800">
                  <a:solidFill>
                    <a:schemeClr val="dk1"/>
                  </a:solidFill>
                </a:rPr>
                <a:t>), mientras que </a:t>
              </a:r>
              <a:r>
                <a:rPr b="1" lang="en-US" sz="1800">
                  <a:solidFill>
                    <a:schemeClr val="dk1"/>
                  </a:solidFill>
                </a:rPr>
                <a:t>PC2</a:t>
              </a:r>
              <a:r>
                <a:rPr lang="en-US" sz="1800">
                  <a:solidFill>
                    <a:schemeClr val="dk1"/>
                  </a:solidFill>
                </a:rPr>
                <a:t> reflejó un </a:t>
              </a:r>
              <a:r>
                <a:rPr b="1" lang="en-US" sz="1800">
                  <a:solidFill>
                    <a:schemeClr val="dk1"/>
                  </a:solidFill>
                </a:rPr>
                <a:t>eje metabólico</a:t>
              </a:r>
              <a:r>
                <a:rPr lang="en-US" sz="1800">
                  <a:solidFill>
                    <a:schemeClr val="dk1"/>
                  </a:solidFill>
                </a:rPr>
                <a:t> caracterizado por </a:t>
              </a:r>
              <a:r>
                <a:rPr i="1" lang="en-US" sz="1800">
                  <a:solidFill>
                    <a:schemeClr val="dk1"/>
                  </a:solidFill>
                </a:rPr>
                <a:t>FTO, LEP </a:t>
              </a:r>
              <a:r>
                <a:rPr lang="en-US" sz="1800">
                  <a:solidFill>
                    <a:schemeClr val="dk1"/>
                  </a:solidFill>
                </a:rPr>
                <a:t>y </a:t>
              </a:r>
              <a:r>
                <a:rPr i="1" lang="en-US" sz="1800">
                  <a:solidFill>
                    <a:schemeClr val="dk1"/>
                  </a:solidFill>
                </a:rPr>
                <a:t>NTRK2</a:t>
              </a:r>
              <a:r>
                <a:rPr lang="en-US" sz="1800">
                  <a:solidFill>
                    <a:schemeClr val="dk1"/>
                  </a:solidFill>
                </a:rPr>
                <a:t>. El clustering de genes identificó grupos con funciones diferenciadas y patrones opuestos de expresión. A nivel de individuos, se observaron tres perfiles con separación principalmente a lo largo de PC1. Sin embargo, </a:t>
              </a:r>
              <a:r>
                <a:rPr b="1" lang="en-US" sz="1800">
                  <a:solidFill>
                    <a:schemeClr val="dk1"/>
                  </a:solidFill>
                </a:rPr>
                <a:t>no se evidenció una separación clara según categorías de IMC</a:t>
              </a:r>
              <a:r>
                <a:rPr lang="en-US" sz="1800">
                  <a:solidFill>
                    <a:schemeClr val="dk1"/>
                  </a:solidFill>
                </a:rPr>
                <a:t>, con un alto solapamiento entre grupos y mayor heterogeneidad en obesidad.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Los modelos de regresión logística confirmaron la ausencia de asociación significativa entre los componentes del PCA y el sobrepeso, destacando únicamente la glucosa como factor de riesgo asociado a la obesidad. Un </a:t>
              </a:r>
              <a:r>
                <a:rPr b="1" lang="en-US" sz="1800">
                  <a:solidFill>
                    <a:schemeClr val="dk1"/>
                  </a:solidFill>
                </a:rPr>
                <a:t>incremento de 1mg/dL de glucosa</a:t>
              </a:r>
              <a:r>
                <a:rPr lang="en-US" sz="1800">
                  <a:solidFill>
                    <a:schemeClr val="dk1"/>
                  </a:solidFill>
                </a:rPr>
                <a:t> en sangre incrementa el </a:t>
              </a:r>
              <a:r>
                <a:rPr b="1" lang="en-US" sz="1800">
                  <a:solidFill>
                    <a:schemeClr val="dk1"/>
                  </a:solidFill>
                </a:rPr>
                <a:t>riesgo de desarrollar obesidad en un 21%</a:t>
              </a:r>
              <a:r>
                <a:rPr lang="en-US" sz="1800">
                  <a:solidFill>
                    <a:schemeClr val="dk1"/>
                  </a:solidFill>
                </a:rPr>
                <a:t>.</a:t>
              </a:r>
              <a:endParaRPr sz="1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DISCUSIÓN</a:t>
              </a:r>
              <a:endParaRPr/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9665075" y="17303700"/>
            <a:ext cx="5211422" cy="3844800"/>
            <a:chOff x="7990453" y="17303700"/>
            <a:chExt cx="6903600" cy="3844800"/>
          </a:xfrm>
        </p:grpSpPr>
        <p:sp>
          <p:nvSpPr>
            <p:cNvPr id="101" name="Google Shape;101;p1"/>
            <p:cNvSpPr/>
            <p:nvPr/>
          </p:nvSpPr>
          <p:spPr>
            <a:xfrm>
              <a:off x="7990453" y="17620200"/>
              <a:ext cx="6903600" cy="3528300"/>
            </a:xfrm>
            <a:prstGeom prst="roundRect">
              <a:avLst>
                <a:gd fmla="val 7513" name="adj"/>
              </a:avLst>
            </a:prstGeom>
            <a:solidFill>
              <a:schemeClr val="lt1"/>
            </a:solidFill>
            <a:ln cap="flat" cmpd="sng" w="19050">
              <a:solidFill>
                <a:srgbClr val="00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-342900" lvl="0" marL="269999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El PCA ha permitido identificar los principales patrones de variabilidad con genes implicados en la regulación neuroendocrina del apetito y del metabolismo energético.</a:t>
              </a:r>
              <a:endParaRPr sz="1800">
                <a:solidFill>
                  <a:schemeClr val="dk1"/>
                </a:solidFill>
              </a:endParaRPr>
            </a:p>
            <a:p>
              <a:pPr indent="-342900" lvl="0" marL="269999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La elevada heterogeneidad entre individuos indica que la obesidad es una patología multifactorial que no puede ser explicada únicamente con la expresión génica.</a:t>
              </a:r>
              <a:endParaRPr sz="1800">
                <a:solidFill>
                  <a:schemeClr val="dk1"/>
                </a:solidFill>
              </a:endParaRPr>
            </a:p>
            <a:p>
              <a:pPr indent="-342900" lvl="0" marL="269999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●"/>
              </a:pPr>
              <a:r>
                <a:rPr lang="en-US" sz="1800">
                  <a:solidFill>
                    <a:schemeClr val="dk1"/>
                  </a:solidFill>
                </a:rPr>
                <a:t>El aumento de los niveles de glucosa en sangre supone un factor de riesgo significativo asociado a obesidad.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8393363" y="17303700"/>
              <a:ext cx="5553300" cy="63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endParaRPr/>
            </a:p>
          </p:txBody>
        </p:sp>
      </p:grpSp>
      <p:sp>
        <p:nvSpPr>
          <p:cNvPr id="103" name="Google Shape;103;p1"/>
          <p:cNvSpPr/>
          <p:nvPr/>
        </p:nvSpPr>
        <p:spPr>
          <a:xfrm>
            <a:off x="8878950" y="7847475"/>
            <a:ext cx="5863800" cy="3086100"/>
          </a:xfrm>
          <a:prstGeom prst="roundRect">
            <a:avLst>
              <a:gd fmla="val 62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Figura 1 A</a:t>
            </a:r>
            <a:r>
              <a:rPr b="1" lang="en-US" sz="1800">
                <a:solidFill>
                  <a:srgbClr val="4196C9"/>
                </a:solidFill>
              </a:rPr>
              <a:t> -</a:t>
            </a: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rgbClr val="4196C9"/>
                </a:solidFill>
              </a:rPr>
              <a:t>Gráfico Cos2 de variables génicas en el PCA. </a:t>
            </a:r>
            <a:r>
              <a:rPr lang="en-US" sz="1800"/>
              <a:t>En PC1 destaca</a:t>
            </a:r>
            <a:r>
              <a:rPr lang="en-US" sz="1800"/>
              <a:t>n </a:t>
            </a:r>
            <a:r>
              <a:rPr i="1" lang="en-US" sz="1800"/>
              <a:t>POMC, ANO4, LEPR, ADCY3, PCSK1</a:t>
            </a:r>
            <a:r>
              <a:rPr lang="en-US" sz="1800"/>
              <a:t> </a:t>
            </a:r>
            <a:r>
              <a:rPr lang="en-US" sz="1800"/>
              <a:t>y </a:t>
            </a:r>
            <a:r>
              <a:rPr i="1" lang="en-US" sz="1800"/>
              <a:t>SH2B1</a:t>
            </a:r>
            <a:r>
              <a:rPr lang="en-US" sz="1800"/>
              <a:t> en sentido positivo. En PC2 </a:t>
            </a:r>
            <a:r>
              <a:rPr i="1" lang="en-US" sz="1800"/>
              <a:t>NTRK2</a:t>
            </a:r>
            <a:r>
              <a:rPr lang="en-US" sz="1800"/>
              <a:t> y </a:t>
            </a:r>
            <a:r>
              <a:rPr i="1" lang="en-US" sz="1800"/>
              <a:t>CADM2</a:t>
            </a:r>
            <a:r>
              <a:rPr lang="en-US" sz="1800"/>
              <a:t> en sentido positivo y </a:t>
            </a:r>
            <a:r>
              <a:rPr i="1" lang="en-US" sz="1800"/>
              <a:t>NRP1, PHIP</a:t>
            </a:r>
            <a:r>
              <a:rPr lang="en-US" sz="1800"/>
              <a:t> y </a:t>
            </a:r>
            <a:r>
              <a:rPr i="1" lang="en-US" sz="1800"/>
              <a:t>FTO</a:t>
            </a:r>
            <a:r>
              <a:rPr lang="en-US" sz="1800"/>
              <a:t> en sentido negativo. </a:t>
            </a:r>
            <a:r>
              <a:rPr b="1" lang="en-US" sz="1800">
                <a:solidFill>
                  <a:srgbClr val="4196C9"/>
                </a:solidFill>
              </a:rPr>
              <a:t>Figura 1 B -</a:t>
            </a:r>
            <a:r>
              <a:rPr lang="en-US" sz="1800"/>
              <a:t> </a:t>
            </a:r>
            <a:r>
              <a:rPr b="1" lang="en-US" sz="1800">
                <a:solidFill>
                  <a:srgbClr val="4196C9"/>
                </a:solidFill>
              </a:rPr>
              <a:t>Heatmap de las correlaciones de Spearman entre las variables génicas y los 6 primeros PCs.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i="1" lang="en-US" sz="1800">
                <a:solidFill>
                  <a:schemeClr val="dk1"/>
                </a:solidFill>
              </a:rPr>
              <a:t>CADM2</a:t>
            </a:r>
            <a:r>
              <a:rPr lang="en-US" sz="1800">
                <a:solidFill>
                  <a:schemeClr val="dk1"/>
                </a:solidFill>
              </a:rPr>
              <a:t> y </a:t>
            </a:r>
            <a:r>
              <a:rPr i="1" lang="en-US" sz="1800">
                <a:solidFill>
                  <a:schemeClr val="dk1"/>
                </a:solidFill>
              </a:rPr>
              <a:t>NTRK2 </a:t>
            </a:r>
            <a:r>
              <a:rPr lang="en-US" sz="1800">
                <a:solidFill>
                  <a:schemeClr val="dk1"/>
                </a:solidFill>
              </a:rPr>
              <a:t>presentan correlaciones positivas moderadas-altas con PC2. </a:t>
            </a:r>
            <a:r>
              <a:rPr i="1" lang="en-US" sz="1800">
                <a:solidFill>
                  <a:schemeClr val="dk1"/>
                </a:solidFill>
              </a:rPr>
              <a:t>CREBRF</a:t>
            </a:r>
            <a:r>
              <a:rPr lang="en-US" sz="1800">
                <a:solidFill>
                  <a:schemeClr val="dk1"/>
                </a:solidFill>
              </a:rPr>
              <a:t> y </a:t>
            </a:r>
            <a:r>
              <a:rPr i="1" lang="en-US" sz="1800">
                <a:solidFill>
                  <a:schemeClr val="dk1"/>
                </a:solidFill>
              </a:rPr>
              <a:t>UBR2</a:t>
            </a:r>
            <a:r>
              <a:rPr lang="en-US" sz="1800">
                <a:solidFill>
                  <a:schemeClr val="dk1"/>
                </a:solidFill>
              </a:rPr>
              <a:t> muestran correlaciones positivas elevadas con PC3. El resto de genes muestran correlaciones débiles o moderadas con todos los PCs, lo que indica que solo un subconjunto de genes explica la estructura principal del dataset.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3424600" y="15166975"/>
            <a:ext cx="3830700" cy="1917300"/>
          </a:xfrm>
          <a:prstGeom prst="roundRect">
            <a:avLst>
              <a:gd fmla="val 79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196C9"/>
                </a:solidFill>
              </a:rPr>
              <a:t>Figura 3 -  Clusterización por IMC.</a:t>
            </a:r>
            <a:r>
              <a:rPr lang="en-US" sz="1800">
                <a:solidFill>
                  <a:schemeClr val="dk1"/>
                </a:solidFill>
              </a:rPr>
              <a:t> Se observa solapamiento entre normopeso y sobrepeso, y los obesos muestran una gran dispersión. Esto sugiere la ausencia de una clara separación entre los perfiles de expresión génica en función del IMC.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382899" y="15166949"/>
            <a:ext cx="7322400" cy="1917300"/>
          </a:xfrm>
          <a:prstGeom prst="roundRect">
            <a:avLst>
              <a:gd fmla="val 115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196C9"/>
                </a:solidFill>
              </a:rPr>
              <a:t>Tabla 1 -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rgbClr val="4196C9"/>
                </a:solidFill>
              </a:rPr>
              <a:t>Ponderación de factores en los modelos de regresión logística.</a:t>
            </a:r>
            <a:r>
              <a:rPr b="1" i="0" lang="en-US" sz="1800" u="none" cap="none" strike="noStrike">
                <a:solidFill>
                  <a:srgbClr val="4196C9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Se construyeron 3 modelos de regresión logística binaria y el ajuste se evaluó mediante razón de verosimilitudes. Solamente la glucosa mostró asociación significativa positiva (tercer modelo), lo que indica que los niveles elevados de glucosa </a:t>
            </a:r>
            <a:r>
              <a:rPr lang="en-US" sz="1800">
                <a:solidFill>
                  <a:schemeClr val="dk1"/>
                </a:solidFill>
              </a:rPr>
              <a:t>constituyen</a:t>
            </a:r>
            <a:r>
              <a:rPr lang="en-US" sz="1800">
                <a:solidFill>
                  <a:schemeClr val="dk1"/>
                </a:solidFill>
              </a:rPr>
              <a:t> un factor de riesgo significativo asociado a obesidad.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77950" y="1132225"/>
            <a:ext cx="14198700" cy="2169300"/>
          </a:xfrm>
          <a:prstGeom prst="roundRect">
            <a:avLst>
              <a:gd fmla="val 9702" name="adj"/>
            </a:avLst>
          </a:prstGeom>
          <a:solidFill>
            <a:srgbClr val="4196C9"/>
          </a:solidFill>
          <a:ln>
            <a:noFill/>
          </a:ln>
        </p:spPr>
        <p:txBody>
          <a:bodyPr anchorCtr="0" anchor="ctr" bIns="45700" lIns="90000" spcFirstLastPara="1" rIns="91425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</a:rPr>
              <a:t>Análisis de bioestad</a:t>
            </a:r>
            <a:r>
              <a:rPr b="1" lang="en-US" sz="3800">
                <a:solidFill>
                  <a:srgbClr val="FFFFFF"/>
                </a:solidFill>
              </a:rPr>
              <a:t>ística aplicada a la expresión génica en Los Simpson</a:t>
            </a:r>
            <a:endParaRPr b="1" sz="3800">
              <a:solidFill>
                <a:srgbClr val="FFFF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FFFF"/>
                </a:solidFill>
              </a:rPr>
              <a:t>Estadística y R para Ciencias de la Salud</a:t>
            </a:r>
            <a:endParaRPr i="1" sz="3600" u="none" cap="none" strike="noStrike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Alberto Mohedano Gómez </a:t>
            </a:r>
            <a:r>
              <a:rPr lang="en-US" sz="2000" u="none" cap="none" strike="noStrike">
                <a:solidFill>
                  <a:srgbClr val="FFFFFF"/>
                </a:solidFill>
              </a:rPr>
              <a:t>, </a:t>
            </a:r>
            <a:r>
              <a:rPr lang="en-US" sz="2000">
                <a:solidFill>
                  <a:srgbClr val="FFFFFF"/>
                </a:solidFill>
              </a:rPr>
              <a:t>Ariadna Covadonga Tejedor Álvarez, Baltasar López Navarro, Celia Medrano Rodríguez, Israel Peña Vargas, Cristina Algarín Sánchez</a:t>
            </a:r>
            <a:endParaRPr/>
          </a:p>
        </p:txBody>
      </p:sp>
      <p:pic>
        <p:nvPicPr>
          <p:cNvPr id="107" name="Google Shape;107;p1" title="unitag_qrcode_standard.png"/>
          <p:cNvPicPr preferRelativeResize="0"/>
          <p:nvPr/>
        </p:nvPicPr>
        <p:blipFill rotWithShape="1">
          <a:blip r:embed="rId5">
            <a:alphaModFix/>
          </a:blip>
          <a:srcRect b="11964" l="10029" r="9156" t="11636"/>
          <a:stretch/>
        </p:blipFill>
        <p:spPr>
          <a:xfrm>
            <a:off x="13686688" y="3707415"/>
            <a:ext cx="1216275" cy="11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13316894" y="4800831"/>
            <a:ext cx="19920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Acceso a GitHub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109" name="Google Shape;109;p1" title="Heatm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4606" y="8117853"/>
            <a:ext cx="5313516" cy="280202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0" name="Google Shape;110;p1" title="Clustering de individuos basado en PCA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950" y="11075901"/>
            <a:ext cx="3206324" cy="205860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1" name="Google Shape;111;p1" title="Clústering de genes (PCA)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7806" y="11075901"/>
            <a:ext cx="3206324" cy="205860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2" name="Google Shape;112;p1" title="Distribución por IMC con elipses de dispersión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9975" y="15197652"/>
            <a:ext cx="2852225" cy="183126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D0D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3" name="Google Shape;113;p1" title="Calidad variables génicas Cos2.png"/>
          <p:cNvPicPr preferRelativeResize="0"/>
          <p:nvPr/>
        </p:nvPicPr>
        <p:blipFill rotWithShape="1">
          <a:blip r:embed="rId10">
            <a:alphaModFix/>
          </a:blip>
          <a:srcRect b="0" l="9182" r="7644" t="0"/>
          <a:stretch/>
        </p:blipFill>
        <p:spPr>
          <a:xfrm>
            <a:off x="253608" y="8145275"/>
            <a:ext cx="3058601" cy="2718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 title="WhatsApp Image 2026-06-15 at 23.18.44.jpe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68808" y="11283393"/>
            <a:ext cx="7322524" cy="3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"/>
          <p:cNvSpPr/>
          <p:nvPr/>
        </p:nvSpPr>
        <p:spPr>
          <a:xfrm>
            <a:off x="388850" y="13220050"/>
            <a:ext cx="6866700" cy="1831200"/>
          </a:xfrm>
          <a:prstGeom prst="roundRect">
            <a:avLst>
              <a:gd fmla="val 114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Figura 2A - </a:t>
            </a:r>
            <a:r>
              <a:rPr b="1" lang="en-US" sz="1800">
                <a:solidFill>
                  <a:srgbClr val="4196C9"/>
                </a:solidFill>
              </a:rPr>
              <a:t>Clusterización por genes</a:t>
            </a:r>
            <a:r>
              <a:rPr lang="en-US" sz="1800"/>
              <a:t> según PCA y 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justado por distancias </a:t>
            </a:r>
            <a:r>
              <a:rPr lang="en-US" sz="1800"/>
              <a:t>por K-mean</a:t>
            </a:r>
            <a:r>
              <a:rPr lang="en-US" sz="1800"/>
              <a:t>s. El cluster rojo agrupa genes de valores positivos de PC1, como </a:t>
            </a:r>
            <a:r>
              <a:rPr i="1" lang="en-US" sz="1800"/>
              <a:t>POMC</a:t>
            </a:r>
            <a:r>
              <a:rPr lang="en-US" sz="1800"/>
              <a:t>, </a:t>
            </a:r>
            <a:r>
              <a:rPr i="1" lang="en-US" sz="1800"/>
              <a:t>LEPR</a:t>
            </a:r>
            <a:r>
              <a:rPr lang="en-US" sz="1800"/>
              <a:t> y </a:t>
            </a:r>
            <a:r>
              <a:rPr i="1" lang="en-US" sz="1800"/>
              <a:t>SH2B1</a:t>
            </a:r>
            <a:r>
              <a:rPr lang="en-US" sz="1800"/>
              <a:t>. El cluster azul, situado en valores negativos de PC1, incluye </a:t>
            </a:r>
            <a:r>
              <a:rPr i="1" lang="en-US" sz="1800"/>
              <a:t>MC4R</a:t>
            </a:r>
            <a:r>
              <a:rPr lang="en-US" sz="1800"/>
              <a:t>, </a:t>
            </a:r>
            <a:r>
              <a:rPr i="1" lang="en-US" sz="1800"/>
              <a:t>FTO</a:t>
            </a:r>
            <a:r>
              <a:rPr lang="en-US" sz="1800"/>
              <a:t> y </a:t>
            </a:r>
            <a:r>
              <a:rPr i="1" lang="en-US" sz="1800"/>
              <a:t>SIM1</a:t>
            </a:r>
            <a:r>
              <a:rPr lang="en-US" sz="1800"/>
              <a:t>. El cluster verde contiene genes con posiciones intermedias, lo que sugiere un papel modulador en la red. </a:t>
            </a:r>
            <a:r>
              <a:rPr b="1" lang="en-US" sz="1800">
                <a:solidFill>
                  <a:srgbClr val="4196C9"/>
                </a:solidFill>
              </a:rPr>
              <a:t>Figura 2B - Clusterización por individuos</a:t>
            </a:r>
            <a:r>
              <a:rPr lang="en-US" sz="1800"/>
              <a:t>. Se observan 3 cluster que reflejan distintos perfiles biológicos entre individuos.</a:t>
            </a:r>
            <a:endParaRPr sz="1800"/>
          </a:p>
        </p:txBody>
      </p:sp>
      <p:grpSp>
        <p:nvGrpSpPr>
          <p:cNvPr id="116" name="Google Shape;116;p1"/>
          <p:cNvGrpSpPr/>
          <p:nvPr/>
        </p:nvGrpSpPr>
        <p:grpSpPr>
          <a:xfrm>
            <a:off x="3312204" y="8045236"/>
            <a:ext cx="498000" cy="431100"/>
            <a:chOff x="-929009" y="11426092"/>
            <a:chExt cx="498000" cy="431100"/>
          </a:xfrm>
        </p:grpSpPr>
        <p:sp>
          <p:nvSpPr>
            <p:cNvPr id="117" name="Google Shape;117;p1"/>
            <p:cNvSpPr/>
            <p:nvPr/>
          </p:nvSpPr>
          <p:spPr>
            <a:xfrm>
              <a:off x="-928939" y="11442450"/>
              <a:ext cx="425700" cy="397200"/>
            </a:xfrm>
            <a:prstGeom prst="ellipse">
              <a:avLst/>
            </a:prstGeom>
            <a:solidFill>
              <a:srgbClr val="4196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-929009" y="11426092"/>
              <a:ext cx="49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</a:rPr>
                <a:t>1B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grpSp>
        <p:nvGrpSpPr>
          <p:cNvPr id="119" name="Google Shape;119;p1"/>
          <p:cNvGrpSpPr/>
          <p:nvPr/>
        </p:nvGrpSpPr>
        <p:grpSpPr>
          <a:xfrm>
            <a:off x="207604" y="8247886"/>
            <a:ext cx="498000" cy="431100"/>
            <a:chOff x="-929009" y="11426092"/>
            <a:chExt cx="498000" cy="431100"/>
          </a:xfrm>
        </p:grpSpPr>
        <p:sp>
          <p:nvSpPr>
            <p:cNvPr id="120" name="Google Shape;120;p1"/>
            <p:cNvSpPr/>
            <p:nvPr/>
          </p:nvSpPr>
          <p:spPr>
            <a:xfrm>
              <a:off x="-928939" y="11442450"/>
              <a:ext cx="425700" cy="397200"/>
            </a:xfrm>
            <a:prstGeom prst="ellipse">
              <a:avLst/>
            </a:prstGeom>
            <a:solidFill>
              <a:srgbClr val="4196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-929009" y="11426092"/>
              <a:ext cx="49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</a:rPr>
                <a:t>1A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>
            <a:off x="3787874" y="11082199"/>
            <a:ext cx="498000" cy="431100"/>
            <a:chOff x="-929009" y="11426092"/>
            <a:chExt cx="498000" cy="431100"/>
          </a:xfrm>
        </p:grpSpPr>
        <p:sp>
          <p:nvSpPr>
            <p:cNvPr id="123" name="Google Shape;123;p1"/>
            <p:cNvSpPr/>
            <p:nvPr/>
          </p:nvSpPr>
          <p:spPr>
            <a:xfrm>
              <a:off x="-928939" y="11442450"/>
              <a:ext cx="425700" cy="397200"/>
            </a:xfrm>
            <a:prstGeom prst="ellipse">
              <a:avLst/>
            </a:prstGeom>
            <a:solidFill>
              <a:srgbClr val="4196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-929009" y="11426092"/>
              <a:ext cx="49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</a:rPr>
                <a:t>2B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3604" y="11082199"/>
            <a:ext cx="498000" cy="431100"/>
            <a:chOff x="-929009" y="11426092"/>
            <a:chExt cx="498000" cy="431100"/>
          </a:xfrm>
        </p:grpSpPr>
        <p:sp>
          <p:nvSpPr>
            <p:cNvPr id="126" name="Google Shape;126;p1"/>
            <p:cNvSpPr/>
            <p:nvPr/>
          </p:nvSpPr>
          <p:spPr>
            <a:xfrm>
              <a:off x="-928939" y="11442450"/>
              <a:ext cx="425700" cy="397200"/>
            </a:xfrm>
            <a:prstGeom prst="ellipse">
              <a:avLst/>
            </a:prstGeom>
            <a:solidFill>
              <a:srgbClr val="4196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FFFFFF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-929009" y="11426092"/>
              <a:ext cx="49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</a:rPr>
                <a:t>2</a:t>
              </a:r>
              <a:r>
                <a:rPr lang="en-US" sz="1600">
                  <a:solidFill>
                    <a:srgbClr val="FFFFFF"/>
                  </a:solidFill>
                </a:rPr>
                <a:t>A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2025-04-21T10:03:24Z</dcterms:created>
  <dc:creator>Victor  de la O Pascual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